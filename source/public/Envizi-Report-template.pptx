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3" r:id="rId4"/>
    <p:sldId id="262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1"/>
    <p:restoredTop sz="94658"/>
  </p:normalViewPr>
  <p:slideViewPr>
    <p:cSldViewPr snapToGrid="0">
      <p:cViewPr varScale="1">
        <p:scale>
          <a:sx n="110" d="100"/>
          <a:sy n="110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44F2-CB9F-D9B3-0EAD-DB1CC5DE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E60D-86AD-0FAA-7BAC-318FC7DE1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E68DD-DA94-1A8A-F8DC-0BC9D7564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A7482-02BD-AC5D-EBE1-72ECD886DC9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31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9993149-29D6-4782-9C3A-0622FCBA43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E665B95-5890-4338-8DC7-90C339223A0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73E31"/>
                </a:solidFill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613CB21-2529-427E-BEB1-2A5223B833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857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0">
                <a:solidFill>
                  <a:srgbClr val="073E31"/>
                </a:solidFill>
              </a:defRPr>
            </a:pPr>
            <a:r>
              <a:rPr lang="it-IT" sz="3675" b="0" dirty="0">
                <a:solidFill>
                  <a:srgbClr val="073E31"/>
                </a:solidFill>
              </a:rPr>
              <a:t>Il percorso ESG  di Erica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A22BE27-97B7-4C29-A515-046F06AB08BE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4333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b="0" dirty="0">
                <a:solidFill>
                  <a:srgbClr val="173F35"/>
                </a:solidFill>
              </a:rPr>
              <a:t>Sintesi workshop Envizi Quest data da definire Workshop</a:t>
            </a: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dirty="0">
                <a:solidFill>
                  <a:srgbClr val="173F35"/>
                </a:solidFill>
              </a:rPr>
              <a:t>IBM Envizi Team IBM Envizi</a:t>
            </a: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sz="1500" b="0" dirty="0">
              <a:solidFill>
                <a:srgbClr val="173F35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8234F6-664C-4D61-BD7E-72784142C19B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3A7165"/>
                </a:solidFill>
              </a:defRPr>
            </a:pPr>
            <a:r>
              <a:rPr sz="975" b="0">
                <a:solidFill>
                  <a:srgbClr val="3A7165"/>
                </a:solidFill>
              </a:rPr>
              <a:t>Incontro di lavoro · 2026</a:t>
            </a:r>
          </a:p>
        </p:txBody>
      </p:sp>
      <p:sp>
        <p:nvSpPr>
          <p:cNvPr id="99" name="logo_placeholder"/>
          <p:cNvSpPr>
            <a:spLocks noGrp="1"/>
          </p:cNvSpPr>
          <p:nvPr/>
        </p:nvSpPr>
        <p:spPr>
          <a:xfrm>
            <a:off x="9652350" y="182880"/>
            <a:ext cx="1645920" cy="548640"/>
          </a:xfrm>
          <a:prstGeom prst="rect">
            <a:avLst/>
          </a:prstGeom>
          <a:noFill/>
        </p:spPr>
        <p:txBody>
          <a:bodyPr/>
          <a:lstStyle/>
          <a:p>
            <a:r>
              <a:t>(qui il logo di nome azienda se caricato)</a:t>
            </a:r>
          </a:p>
        </p:txBody>
      </p:sp>
    </p:spTree>
    <p:extLst>
      <p:ext uri="{BB962C8B-B14F-4D97-AF65-F5344CB8AC3E}">
        <p14:creationId xmlns:p14="http://schemas.microsoft.com/office/powerpoint/2010/main" val="149765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D1A2-FE47-9C2D-2DD3-4EDE436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F5A39C-0D5F-D9D7-A474-99092D67C0E4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025" dirty="0">
                <a:solidFill>
                  <a:srgbClr val="073E31"/>
                </a:solidFill>
                <a:latin typeface="Calibri"/>
                <a:cs typeface="Calibri"/>
              </a:rPr>
              <a:t>(Nome Azienda) ha avviato il percorso ESG 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789260C-C06C-50F7-DCF8-C9504775E986}"/>
              </a:ext>
            </a:extLst>
          </p:cNvPr>
          <p:cNvSpPr>
            <a:spLocks noGrp="1"/>
          </p:cNvSpPr>
          <p:nvPr/>
        </p:nvSpPr>
        <p:spPr>
          <a:xfrm>
            <a:off x="556548" y="1138127"/>
            <a:ext cx="6443133" cy="222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(Nome Azienda) è un Gruppo manifatturiero presente 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a livello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(Globale o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Europo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o Italiano)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Nell’anno (anno) ha registrato  (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€mln ricavi qui inserire il valore immesso in base al settore)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L’organizzazione occupa (Numero dipendenti) dipendenti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(frase se Indicativamente FUORI o dentro perimetro CSRD sulla base dei dati inseriti).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Sedi totali)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di cui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Sedi uffici)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sedi operative secondo settore)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data center mostrare se numero &gt;0)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altri tipi di sedi)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(Numero sedi in Italia  Numero sedi in Europa America Asia Australia)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B48459-8B8D-B690-E274-417F5F862590}"/>
              </a:ext>
            </a:extLst>
          </p:cNvPr>
          <p:cNvSpPr>
            <a:spLocks noGrp="1"/>
          </p:cNvSpPr>
          <p:nvPr/>
        </p:nvSpPr>
        <p:spPr>
          <a:xfrm rot="10800000" flipV="1">
            <a:off x="8357191" y="113812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4BC052D-65E4-906D-EE27-0443921237A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A2B2FA1-C667-A34B-C960-957BF47BB86E}"/>
              </a:ext>
            </a:extLst>
          </p:cNvPr>
          <p:cNvSpPr>
            <a:spLocks noGrp="1"/>
          </p:cNvSpPr>
          <p:nvPr/>
        </p:nvSpPr>
        <p:spPr>
          <a:xfrm rot="10800000" flipV="1">
            <a:off x="7928926" y="416753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(qui inserisci Immagine mondo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italia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europa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cona la distribuzione sedi come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Nella visualizzazione in applicazione)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B8C1F4B-B5A1-36F5-EBD0-7B7B732BCD72}"/>
              </a:ext>
            </a:extLst>
          </p:cNvPr>
          <p:cNvSpPr txBox="1"/>
          <p:nvPr/>
        </p:nvSpPr>
        <p:spPr>
          <a:xfrm>
            <a:off x="10125987" y="226487"/>
            <a:ext cx="1830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(qui il logo di nome azienda se caricato) 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2E188EE-551E-9F11-3A13-3708272F4E3A}"/>
              </a:ext>
            </a:extLst>
          </p:cNvPr>
          <p:cNvSpPr>
            <a:spLocks noGrp="1"/>
          </p:cNvSpPr>
          <p:nvPr/>
        </p:nvSpPr>
        <p:spPr>
          <a:xfrm rot="10800000" flipV="1">
            <a:off x="7928927" y="1223169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(qui inserisci frase e commenti su livello maturità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esg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74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magine 50">
            <a:extLst>
              <a:ext uri="{FF2B5EF4-FFF2-40B4-BE49-F238E27FC236}">
                <a16:creationId xmlns:a16="http://schemas.microsoft.com/office/drawing/2014/main" id="{B6493474-42F6-5DF7-D8B5-67E3E7FB0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6455"/>
            <a:ext cx="12133528" cy="2235425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0CBF5A5B-2147-D5D3-2976-7CB3254CD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77" y="3270912"/>
            <a:ext cx="3888186" cy="1727200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D5F20C4E-C15F-8294-4014-268865F8EC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339" y="3316046"/>
            <a:ext cx="3975100" cy="16383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19DAE74-0069-4330-8C8C-F7D523592735}"/>
              </a:ext>
            </a:extLst>
          </p:cNvPr>
          <p:cNvSpPr>
            <a:spLocks noGrp="1"/>
          </p:cNvSpPr>
          <p:nvPr/>
        </p:nvSpPr>
        <p:spPr>
          <a:xfrm>
            <a:off x="261221" y="275545"/>
            <a:ext cx="96993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73E31"/>
                </a:solidFill>
              </a:defRPr>
            </a:pP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La priorità di principale di (Nome Azienda) è </a:t>
            </a:r>
            <a:r>
              <a:rPr lang="it-IT" sz="2025" dirty="0">
                <a:solidFill>
                  <a:srgbClr val="073E31"/>
                </a:solidFill>
                <a:latin typeface="Calibri"/>
                <a:cs typeface="Calibri"/>
              </a:rPr>
              <a:t>(nome obiettivo priorità 1) seguita da (nome obiettivo priorità 2) evidenziando il valore di ESG per il business.</a:t>
            </a:r>
            <a:endParaRPr kumimoji="0" lang="it-IT" sz="2025" b="0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105BE0D-8F32-4EBD-AA1E-F7C0CF412DE0}"/>
              </a:ext>
            </a:extLst>
          </p:cNvPr>
          <p:cNvSpPr>
            <a:spLocks noGrp="1"/>
          </p:cNvSpPr>
          <p:nvPr/>
        </p:nvSpPr>
        <p:spPr>
          <a:xfrm>
            <a:off x="239629" y="331894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Efficienza, energia e costi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B409D4E-E24C-4510-9E03-83D985FCA058}"/>
              </a:ext>
            </a:extLst>
          </p:cNvPr>
          <p:cNvSpPr>
            <a:spLocks noGrp="1"/>
          </p:cNvSpPr>
          <p:nvPr/>
        </p:nvSpPr>
        <p:spPr>
          <a:xfrm>
            <a:off x="557129" y="3498877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08D0622-901E-4C2F-9D39-751F97EBC149}"/>
              </a:ext>
            </a:extLst>
          </p:cNvPr>
          <p:cNvSpPr>
            <a:spLocks noGrp="1"/>
          </p:cNvSpPr>
          <p:nvPr/>
        </p:nvSpPr>
        <p:spPr>
          <a:xfrm>
            <a:off x="4488201" y="3152807"/>
            <a:ext cx="3413760" cy="380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C840598-3398-5CA5-4B42-52A4374FDFC3}"/>
              </a:ext>
            </a:extLst>
          </p:cNvPr>
          <p:cNvSpPr>
            <a:spLocks noGrp="1"/>
          </p:cNvSpPr>
          <p:nvPr/>
        </p:nvSpPr>
        <p:spPr>
          <a:xfrm>
            <a:off x="8481929" y="3498877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B0DA487-ED6A-BE4A-2358-F3DF654C78D5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397154D-841F-E1C8-29A8-9C2BD943590A}"/>
              </a:ext>
            </a:extLst>
          </p:cNvPr>
          <p:cNvSpPr>
            <a:spLocks noGrp="1"/>
          </p:cNvSpPr>
          <p:nvPr/>
        </p:nvSpPr>
        <p:spPr>
          <a:xfrm>
            <a:off x="84124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344B5E1-F5F5-80C6-7DC3-2575A03821F9}"/>
              </a:ext>
            </a:extLst>
          </p:cNvPr>
          <p:cNvSpPr>
            <a:spLocks noGrp="1"/>
          </p:cNvSpPr>
          <p:nvPr/>
        </p:nvSpPr>
        <p:spPr>
          <a:xfrm>
            <a:off x="44500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BA581DD-8CBC-CBBC-0902-716E14D0E681}"/>
              </a:ext>
            </a:extLst>
          </p:cNvPr>
          <p:cNvSpPr>
            <a:spLocks noGrp="1"/>
          </p:cNvSpPr>
          <p:nvPr/>
        </p:nvSpPr>
        <p:spPr>
          <a:xfrm>
            <a:off x="4876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A76E8D0-F140-CA9C-380C-8AC0CBADB7A9}"/>
              </a:ext>
            </a:extLst>
          </p:cNvPr>
          <p:cNvSpPr>
            <a:spLocks noGrp="1"/>
          </p:cNvSpPr>
          <p:nvPr/>
        </p:nvSpPr>
        <p:spPr>
          <a:xfrm>
            <a:off x="7761421" y="4702837"/>
            <a:ext cx="3413760" cy="380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58CB44CE-90AA-6895-22F7-F0DF438A1AEF}"/>
              </a:ext>
            </a:extLst>
          </p:cNvPr>
          <p:cNvSpPr>
            <a:spLocks noGrp="1"/>
          </p:cNvSpPr>
          <p:nvPr/>
        </p:nvSpPr>
        <p:spPr>
          <a:xfrm>
            <a:off x="8253729" y="336051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Reputazione e attrazione talenti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5A403638-DB30-7841-25A9-4BD05E8813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003" y="3347112"/>
            <a:ext cx="3937000" cy="1651000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C3226317-E9F3-4A41-B4C1-91B77C2DB7A8}"/>
              </a:ext>
            </a:extLst>
          </p:cNvPr>
          <p:cNvSpPr>
            <a:spLocks noGrp="1"/>
          </p:cNvSpPr>
          <p:nvPr/>
        </p:nvSpPr>
        <p:spPr>
          <a:xfrm>
            <a:off x="4193851" y="3323842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Resilienza della supply chain</a:t>
            </a: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BD179F4-23AA-58C1-72FC-377E9FC904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29" y="1340475"/>
            <a:ext cx="3775834" cy="1739900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54CD706C-3EDD-DDEA-212E-1305164D43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437" y="1396534"/>
            <a:ext cx="3975100" cy="1790700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4DD03A36-3B98-F83F-1B3F-00FB16314B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3" y="1413698"/>
            <a:ext cx="4038600" cy="16764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B28E0820-69E0-40E1-86BC-CE2E4442C18B}"/>
              </a:ext>
            </a:extLst>
          </p:cNvPr>
          <p:cNvSpPr>
            <a:spLocks noGrp="1"/>
          </p:cNvSpPr>
          <p:nvPr/>
        </p:nvSpPr>
        <p:spPr>
          <a:xfrm>
            <a:off x="8290560" y="146602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lang="it-IT" sz="1125" b="1" dirty="0" err="1">
                <a:solidFill>
                  <a:srgbClr val="073E31"/>
                </a:solidFill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Accesso al credito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lang="it-IT" sz="1125" b="1" dirty="0">
              <a:solidFill>
                <a:srgbClr val="073E31"/>
              </a:solidFill>
              <a:latin typeface="Calibri"/>
              <a:cs typeface="Calibri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457C7FE-5107-4501-AD49-1A882933E90F}"/>
              </a:ext>
            </a:extLst>
          </p:cNvPr>
          <p:cNvSpPr>
            <a:spLocks noGrp="1"/>
          </p:cNvSpPr>
          <p:nvPr/>
        </p:nvSpPr>
        <p:spPr>
          <a:xfrm>
            <a:off x="203053" y="1417749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Clienti e gare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D6BA53-79B6-4F05-A63B-3B573FCF5882}"/>
              </a:ext>
            </a:extLst>
          </p:cNvPr>
          <p:cNvSpPr>
            <a:spLocks noGrp="1"/>
          </p:cNvSpPr>
          <p:nvPr/>
        </p:nvSpPr>
        <p:spPr>
          <a:xfrm>
            <a:off x="4399234" y="1467753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lang="it-IT" sz="1125" b="1" dirty="0">
                <a:solidFill>
                  <a:srgbClr val="073E31"/>
                </a:solidFill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  Compliance e reporting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49BB831F-D0CE-B25D-B9C1-D80E12E21618}"/>
              </a:ext>
            </a:extLst>
          </p:cNvPr>
          <p:cNvSpPr/>
          <p:nvPr/>
        </p:nvSpPr>
        <p:spPr>
          <a:xfrm>
            <a:off x="1602708" y="1627632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1C8A1F4-C75F-6E2D-18CF-A2A934806E3D}"/>
              </a:ext>
            </a:extLst>
          </p:cNvPr>
          <p:cNvSpPr txBox="1"/>
          <p:nvPr/>
        </p:nvSpPr>
        <p:spPr>
          <a:xfrm>
            <a:off x="1579884" y="1627632"/>
            <a:ext cx="2278114" cy="1384995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clienti e gare con questo font, se il testo supera questo blocco tagliare, non mostrare riquadro tratteggio) 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6B584D7-B301-FA2B-DA2F-C4D9BB86597F}"/>
              </a:ext>
            </a:extLst>
          </p:cNvPr>
          <p:cNvSpPr/>
          <p:nvPr/>
        </p:nvSpPr>
        <p:spPr>
          <a:xfrm>
            <a:off x="5546144" y="1682496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B73CECA0-FF4B-9B27-801A-988BBF9ECE28}"/>
              </a:ext>
            </a:extLst>
          </p:cNvPr>
          <p:cNvSpPr txBox="1"/>
          <p:nvPr/>
        </p:nvSpPr>
        <p:spPr>
          <a:xfrm>
            <a:off x="5523320" y="1682496"/>
            <a:ext cx="2278114" cy="1384995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compliance e reporting  con questo font, se il testo supera questo blocco tagliare, non mostrare riquadro tratteggio)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C3387C14-E91D-415E-5FAC-00C485D14975}"/>
              </a:ext>
            </a:extLst>
          </p:cNvPr>
          <p:cNvSpPr/>
          <p:nvPr/>
        </p:nvSpPr>
        <p:spPr>
          <a:xfrm>
            <a:off x="9700234" y="1682496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B365B65C-6A9F-491F-CE70-45B63F8EA399}"/>
              </a:ext>
            </a:extLst>
          </p:cNvPr>
          <p:cNvSpPr txBox="1"/>
          <p:nvPr/>
        </p:nvSpPr>
        <p:spPr>
          <a:xfrm>
            <a:off x="9677410" y="1682496"/>
            <a:ext cx="2278114" cy="1384995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accesso al credito con questo font, se il testo supera questo blocco tagliare, non mostrare riquadro tratteggio) 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9619F353-4746-2487-F792-B848B0974424}"/>
              </a:ext>
            </a:extLst>
          </p:cNvPr>
          <p:cNvSpPr/>
          <p:nvPr/>
        </p:nvSpPr>
        <p:spPr>
          <a:xfrm>
            <a:off x="1559759" y="3529584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6D51444-06D3-6549-7722-523C841C29FA}"/>
              </a:ext>
            </a:extLst>
          </p:cNvPr>
          <p:cNvSpPr txBox="1"/>
          <p:nvPr/>
        </p:nvSpPr>
        <p:spPr>
          <a:xfrm>
            <a:off x="1536935" y="3529584"/>
            <a:ext cx="2278114" cy="1384995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efficienza energia con questo font, se il testo supera questo blocco tagliare, non mostrare riquadro tratteggio) 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493B6514-A574-C363-7316-9CD359636559}"/>
              </a:ext>
            </a:extLst>
          </p:cNvPr>
          <p:cNvSpPr/>
          <p:nvPr/>
        </p:nvSpPr>
        <p:spPr>
          <a:xfrm>
            <a:off x="5565771" y="3502152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C8265D83-E2F5-FD13-221A-92D55AFD4B86}"/>
              </a:ext>
            </a:extLst>
          </p:cNvPr>
          <p:cNvSpPr txBox="1"/>
          <p:nvPr/>
        </p:nvSpPr>
        <p:spPr>
          <a:xfrm>
            <a:off x="5542947" y="3502152"/>
            <a:ext cx="2278114" cy="1384995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supply chain con questo font, se il testo supera questo blocco tagliare, non mostrare riquadro tratteggio) 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741AAA97-A02B-0BEB-C762-55A5232727CF}"/>
              </a:ext>
            </a:extLst>
          </p:cNvPr>
          <p:cNvSpPr/>
          <p:nvPr/>
        </p:nvSpPr>
        <p:spPr>
          <a:xfrm>
            <a:off x="9516008" y="3575304"/>
            <a:ext cx="2192515" cy="13849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9ABF16E6-DC55-20A7-1EB6-25EA100C6670}"/>
              </a:ext>
            </a:extLst>
          </p:cNvPr>
          <p:cNvSpPr txBox="1"/>
          <p:nvPr/>
        </p:nvSpPr>
        <p:spPr>
          <a:xfrm>
            <a:off x="9493184" y="3575304"/>
            <a:ext cx="2278114" cy="1169551"/>
          </a:xfrm>
          <a:prstGeom prst="rect">
            <a:avLst/>
          </a:prstGeom>
          <a:noFill/>
        </p:spPr>
        <p:txBody>
          <a:bodyPr anchor="ctr" wrap="square" rtlCol="0">
            <a:spAutoFit/>
          </a:bodyPr>
          <a:lstStyle/>
          <a:p>
            <a:r>
              <a:rPr lang="it-IT" sz="1100" dirty="0"/>
              <a:t>(qui le note dell’obiettivo reputazione e talenti, se il testo supera questo blocco tagliare, non mostrare riquadro tratteggio) 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6BE52D16-CEEE-3BA5-C331-8383A8A9F682}"/>
              </a:ext>
            </a:extLst>
          </p:cNvPr>
          <p:cNvSpPr txBox="1"/>
          <p:nvPr/>
        </p:nvSpPr>
        <p:spPr>
          <a:xfrm>
            <a:off x="10125987" y="226487"/>
            <a:ext cx="1830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(qui il logo di nome azienda se caricato) </a:t>
            </a:r>
          </a:p>
        </p:txBody>
      </p:sp>
    </p:spTree>
    <p:extLst>
      <p:ext uri="{BB962C8B-B14F-4D97-AF65-F5344CB8AC3E}">
        <p14:creationId xmlns:p14="http://schemas.microsoft.com/office/powerpoint/2010/main" val="48249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3DBA6725-3A41-4930-A38A-8CAA4A89353A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932823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700" b="0" dirty="0">
                <a:solidFill>
                  <a:srgbClr val="073E31"/>
                </a:solidFill>
              </a:rPr>
              <a:t>(</a:t>
            </a:r>
            <a:r>
              <a:rPr lang="it-IT" sz="2025" dirty="0">
                <a:solidFill>
                  <a:srgbClr val="073E31"/>
                </a:solidFill>
                <a:latin typeface="Calibri"/>
                <a:cs typeface="Calibri"/>
              </a:rPr>
              <a:t>nome azienda)  mostra le principali esigenze a supporto degli obiettivi di business nelle aree (inserire prima esigenza) 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3F9951E-718D-E874-8C0D-50EA7491004A}"/>
              </a:ext>
            </a:extLst>
          </p:cNvPr>
          <p:cNvSpPr>
            <a:spLocks noGrp="1"/>
          </p:cNvSpPr>
          <p:nvPr/>
        </p:nvSpPr>
        <p:spPr>
          <a:xfrm>
            <a:off x="533400" y="1382676"/>
            <a:ext cx="3262423" cy="522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(Elenco elementi valutati per rilevanza e criticità)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(ogni elemento ha un numero d’ordine in base al punteggio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dato da (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R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  + (C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(ogni elemento è rappresentato in matrice con un cerchio che contiene un numero che è lo stesso dell’ordine dell’elenco elementi)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(la matrice è un riquadro composto da riquadri invisibili 10x10, i cerchi saranno posizionati nel riquadro corrispondente) 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59BC664-7A30-9987-EDFB-4EABED89085E}"/>
              </a:ext>
            </a:extLst>
          </p:cNvPr>
          <p:cNvSpPr/>
          <p:nvPr/>
        </p:nvSpPr>
        <p:spPr>
          <a:xfrm>
            <a:off x="4274289" y="1499190"/>
            <a:ext cx="7176976" cy="4742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2BE31BF-D443-A75D-62C1-DD0728926472}"/>
              </a:ext>
            </a:extLst>
          </p:cNvPr>
          <p:cNvSpPr/>
          <p:nvPr/>
        </p:nvSpPr>
        <p:spPr>
          <a:xfrm>
            <a:off x="7836195" y="1499192"/>
            <a:ext cx="3604438" cy="239232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93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0929929-73F8-D13A-37E7-8EC30C5FB007}"/>
              </a:ext>
            </a:extLst>
          </p:cNvPr>
          <p:cNvSpPr txBox="1"/>
          <p:nvPr/>
        </p:nvSpPr>
        <p:spPr>
          <a:xfrm>
            <a:off x="5094566" y="6187869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</a:t>
            </a:r>
            <a:r>
              <a:rPr lang="it-IT" dirty="0"/>
              <a:t>-Rilevanza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F39F2FC-65DA-112F-9F37-12F6FA1AE11B}"/>
              </a:ext>
            </a:extLst>
          </p:cNvPr>
          <p:cNvSpPr txBox="1"/>
          <p:nvPr/>
        </p:nvSpPr>
        <p:spPr>
          <a:xfrm>
            <a:off x="4323319" y="6187869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B23838-7154-2E3D-C2E4-18F9C1A14B29}"/>
              </a:ext>
            </a:extLst>
          </p:cNvPr>
          <p:cNvSpPr txBox="1"/>
          <p:nvPr/>
        </p:nvSpPr>
        <p:spPr>
          <a:xfrm>
            <a:off x="10940903" y="618089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652DB28-5536-CA9A-4632-042616BADAED}"/>
              </a:ext>
            </a:extLst>
          </p:cNvPr>
          <p:cNvSpPr txBox="1"/>
          <p:nvPr/>
        </p:nvSpPr>
        <p:spPr>
          <a:xfrm>
            <a:off x="3880885" y="5861346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D28903F-304C-4805-0773-98A4792E5A1D}"/>
              </a:ext>
            </a:extLst>
          </p:cNvPr>
          <p:cNvSpPr txBox="1"/>
          <p:nvPr/>
        </p:nvSpPr>
        <p:spPr>
          <a:xfrm>
            <a:off x="3856076" y="1488557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7A37AA7-B8C8-B015-55D9-26B4A2F8AEE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08BB0F0-8076-706F-C0FE-7F20345FA9C8}"/>
              </a:ext>
            </a:extLst>
          </p:cNvPr>
          <p:cNvSpPr txBox="1"/>
          <p:nvPr/>
        </p:nvSpPr>
        <p:spPr>
          <a:xfrm rot="16200000">
            <a:off x="3374956" y="4734048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C-Criticità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3F267A7-CF6B-4EA4-81A2-49A06C8B4E24}"/>
              </a:ext>
            </a:extLst>
          </p:cNvPr>
          <p:cNvSpPr/>
          <p:nvPr/>
        </p:nvSpPr>
        <p:spPr>
          <a:xfrm>
            <a:off x="7836195" y="3898088"/>
            <a:ext cx="3604438" cy="235385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  <a:alpha val="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311E74D-D1B8-3477-DB58-5F8C9850C512}"/>
              </a:ext>
            </a:extLst>
          </p:cNvPr>
          <p:cNvSpPr txBox="1"/>
          <p:nvPr/>
        </p:nvSpPr>
        <p:spPr>
          <a:xfrm>
            <a:off x="3994301" y="3696218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A99FD45-538F-D2EA-917B-F75FD3750819}"/>
              </a:ext>
            </a:extLst>
          </p:cNvPr>
          <p:cNvSpPr txBox="1"/>
          <p:nvPr/>
        </p:nvSpPr>
        <p:spPr>
          <a:xfrm>
            <a:off x="7704077" y="620645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64BA65B-78FE-6658-8365-6FE0244F2D51}"/>
              </a:ext>
            </a:extLst>
          </p:cNvPr>
          <p:cNvSpPr txBox="1"/>
          <p:nvPr/>
        </p:nvSpPr>
        <p:spPr>
          <a:xfrm>
            <a:off x="10157844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Trasformare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9C33150-793E-61B0-EB65-35A0F8A52541}"/>
              </a:ext>
            </a:extLst>
          </p:cNvPr>
          <p:cNvSpPr txBox="1"/>
          <p:nvPr/>
        </p:nvSpPr>
        <p:spPr>
          <a:xfrm>
            <a:off x="10224587" y="3898088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Mantenere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D356A0C-D82D-7A5B-880C-98D97EA28171}"/>
              </a:ext>
            </a:extLst>
          </p:cNvPr>
          <p:cNvSpPr txBox="1"/>
          <p:nvPr/>
        </p:nvSpPr>
        <p:spPr>
          <a:xfrm>
            <a:off x="4271137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Migliorare</a:t>
            </a:r>
          </a:p>
        </p:txBody>
      </p:sp>
      <p:cxnSp>
        <p:nvCxnSpPr>
          <p:cNvPr id="35" name="Connettore dritto 34">
            <a:extLst>
              <a:ext uri="{FF2B5EF4-FFF2-40B4-BE49-F238E27FC236}">
                <a16:creationId xmlns:a16="http://schemas.microsoft.com/office/drawing/2014/main" id="{1CB06FBC-AF45-3BA2-3101-0E8C55A6102E}"/>
              </a:ext>
            </a:extLst>
          </p:cNvPr>
          <p:cNvCxnSpPr/>
          <p:nvPr/>
        </p:nvCxnSpPr>
        <p:spPr>
          <a:xfrm>
            <a:off x="4274289" y="3898088"/>
            <a:ext cx="3929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D7E114B-A3B1-3DDA-671D-56482B61D06B}"/>
              </a:ext>
            </a:extLst>
          </p:cNvPr>
          <p:cNvSpPr txBox="1"/>
          <p:nvPr/>
        </p:nvSpPr>
        <p:spPr>
          <a:xfrm>
            <a:off x="4273081" y="3898359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Monitorare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A7ADEA-A513-506A-6A10-B85128774CE9}"/>
              </a:ext>
            </a:extLst>
          </p:cNvPr>
          <p:cNvSpPr txBox="1"/>
          <p:nvPr/>
        </p:nvSpPr>
        <p:spPr>
          <a:xfrm>
            <a:off x="10125987" y="226487"/>
            <a:ext cx="1830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(qui il logo di nome azienda se caricato) </a:t>
            </a:r>
          </a:p>
        </p:txBody>
      </p:sp>
    </p:spTree>
    <p:extLst>
      <p:ext uri="{BB962C8B-B14F-4D97-AF65-F5344CB8AC3E}">
        <p14:creationId xmlns:p14="http://schemas.microsoft.com/office/powerpoint/2010/main" val="13539720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542</Words>
  <Application>Microsoft Macintosh PowerPoint</Application>
  <DocSecurity>0</DocSecurity>
  <PresentationFormat>Widescreen</PresentationFormat>
  <Paragraphs>65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6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felice petrignano</cp:lastModifiedBy>
  <cp:revision>8</cp:revision>
  <dcterms:created xsi:type="dcterms:W3CDTF">2026-08-30T12:31:50Z</dcterms:created>
  <dcterms:modified xsi:type="dcterms:W3CDTF">2026-09-01T09:01:02Z</dcterms:modified>
</cp:coreProperties>
</file>